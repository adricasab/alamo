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Thermomechanical MMW Spallation Model in ALAMO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unified continuum model for millimetre-wave rock drilling</a:t>
            </a:r>
          </a:p>
          <a:p>
            <a:pPr lvl="0" indent="0" marL="0">
              <a:buNone/>
            </a:pPr>
            <a:r>
              <a:rPr/>
              <a:t>Implementation plan summary — 2026-05-13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are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Millimetre-wave drilling</a:t>
            </a:r>
            <a:r>
              <a:rPr/>
              <a:t> — a high-power microwave beam (~30–300 GHz, kW–MW) heats rock surfaces fast enough that the rock fails </a:t>
            </a:r>
            <a:r>
              <a:rPr i="1"/>
              <a:t>before</a:t>
            </a:r>
            <a:r>
              <a:rPr/>
              <a:t> it can melt or vaporise efficiently. Two competing removal mechanisms:</a:t>
            </a:r>
          </a:p>
          <a:p>
            <a:pPr lvl="0"/>
            <a:r>
              <a:rPr b="1"/>
              <a:t>Spallation</a:t>
            </a:r>
            <a:r>
              <a:rPr/>
              <a:t> — thermal stresses crack and detach mm-thick chips.</a:t>
            </a:r>
          </a:p>
          <a:p>
            <a:pPr lvl="0"/>
            <a:r>
              <a:rPr b="1"/>
              <a:t>Vaporisation</a:t>
            </a:r>
            <a:r>
              <a:rPr/>
              <a:t> — surface boils away once enthalpy exceeds latent heat.</a:t>
            </a:r>
          </a:p>
          <a:p>
            <a:pPr lvl="0" indent="0" marL="0">
              <a:buNone/>
            </a:pPr>
            <a:r>
              <a:rPr/>
              <a:t>The right model has to handle </a:t>
            </a:r>
            <a:r>
              <a:rPr b="1"/>
              <a:t>both regimes</a:t>
            </a:r>
            <a:r>
              <a:rPr/>
              <a:t> plus the transition between them.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Six coupled physics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Enthalpy heat conduction</a:t>
            </a:r>
            <a:r>
              <a:rPr/>
              <a:t> with solid / liquid / vapour phase tracking.</a:t>
            </a:r>
          </a:p>
          <a:p>
            <a:pPr lvl="0" indent="-342900" marL="342900">
              <a:buAutoNum type="arabicPeriod"/>
            </a:pPr>
            <a:r>
              <a:rPr b="1"/>
              <a:t>MMW beam source</a:t>
            </a:r>
            <a:r>
              <a:rPr/>
              <a:t> — Gaussian profile, Beer–Lambert absorption.</a:t>
            </a:r>
          </a:p>
          <a:p>
            <a:pPr lvl="0" indent="-342900" marL="342900">
              <a:buAutoNum type="arabicPeriod"/>
            </a:pPr>
            <a:r>
              <a:rPr b="1"/>
              <a:t>Surface losses</a:t>
            </a:r>
            <a:r>
              <a:rPr/>
              <a:t> — radiation + convection.</a:t>
            </a:r>
          </a:p>
          <a:p>
            <a:pPr lvl="0" indent="-342900" marL="342900">
              <a:buAutoNum type="arabicPeriod"/>
            </a:pPr>
            <a:r>
              <a:rPr b="1"/>
              <a:t>Voronoi mineral microstructure</a:t>
            </a:r>
            <a:r>
              <a:rPr/>
              <a:t> — per-grain properties, grain boundaries.</a:t>
            </a:r>
          </a:p>
          <a:p>
            <a:pPr lvl="0" indent="-342900" marL="342900">
              <a:buAutoNum type="arabicPeriod"/>
            </a:pPr>
            <a:r>
              <a:rPr b="1"/>
              <a:t>Thermoelastic mechanics</a:t>
            </a:r>
            <a:r>
              <a:rPr/>
              <a:t> with damage-degraded stiffness.</a:t>
            </a:r>
          </a:p>
          <a:p>
            <a:pPr lvl="0" indent="-342900" marL="342900">
              <a:buAutoNum type="arabicPeriod"/>
            </a:pPr>
            <a:r>
              <a:rPr b="1"/>
              <a:t>Material removal</a:t>
            </a:r>
            <a:r>
              <a:rPr/>
              <a:t> — spall detachment OR vaporisation recession.</a:t>
            </a:r>
          </a:p>
          <a:p>
            <a:pPr lvl="0" indent="0" marL="0">
              <a:buNone/>
            </a:pPr>
            <a:r>
              <a:rPr/>
              <a:t>All on an </a:t>
            </a:r>
            <a:r>
              <a:rPr b="1"/>
              <a:t>adaptive mesh refinement (AMR)</a:t>
            </a:r>
            <a:r>
              <a:rPr/>
              <a:t> grid using the ALAMO framework.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ALAMO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ALAMO is an AMReX-based multi-physics framework with:</a:t>
            </a:r>
          </a:p>
          <a:p>
            <a:pPr lvl="0"/>
            <a:r>
              <a:rPr/>
              <a:t>A composable </a:t>
            </a:r>
            <a:r>
              <a:rPr b="1"/>
              <a:t>integrator</a:t>
            </a:r>
            <a:r>
              <a:rPr/>
              <a:t> pattern (multiple inheritance for coupled physics).</a:t>
            </a:r>
          </a:p>
          <a:p>
            <a:pPr lvl="0"/>
            <a:r>
              <a:rPr/>
              <a:t>Built-in nodal </a:t>
            </a:r>
            <a:r>
              <a:rPr b="1"/>
              <a:t>elasticity operator</a:t>
            </a:r>
            <a:r>
              <a:rPr/>
              <a:t> with multigrid solver.</a:t>
            </a:r>
          </a:p>
          <a:p>
            <a:pPr lvl="0"/>
            <a:r>
              <a:rPr/>
              <a:t>Voronoi and parser-based </a:t>
            </a:r>
            <a:r>
              <a:rPr b="1"/>
              <a:t>initial conditions</a:t>
            </a:r>
            <a:r>
              <a:rPr/>
              <a:t>.</a:t>
            </a:r>
          </a:p>
          <a:p>
            <a:pPr lvl="0"/>
            <a:r>
              <a:rPr b="1"/>
              <a:t>AMR</a:t>
            </a:r>
            <a:r>
              <a:rPr/>
              <a:t> with regrid/average-down already wired up.</a:t>
            </a:r>
          </a:p>
          <a:p>
            <a:pPr lvl="0" indent="0" marL="0">
              <a:buNone/>
            </a:pPr>
            <a:r>
              <a:rPr/>
              <a:t>We inherit from </a:t>
            </a:r>
            <a:r>
              <a:rPr>
                <a:latin typeface="Courier"/>
              </a:rPr>
              <a:t>HeatConduction</a:t>
            </a:r>
            <a:r>
              <a:rPr/>
              <a:t> + </a:t>
            </a:r>
            <a:r>
              <a:rPr>
                <a:latin typeface="Courier"/>
              </a:rPr>
              <a:t>Mechanics&lt;…&gt;</a:t>
            </a:r>
            <a:r>
              <a:rPr/>
              <a:t> and add the MMW-specific coupling. </a:t>
            </a:r>
            <a:r>
              <a:rPr b="1"/>
              <a:t>No new executable framework</a:t>
            </a:r>
            <a:r>
              <a:rPr/>
              <a:t> — just one new integrator and one new top-level binary, </a:t>
            </a:r>
            <a:r>
              <a:rPr>
                <a:latin typeface="Courier"/>
              </a:rPr>
              <a:t>mmwspalling-3d-g++</a:t>
            </a:r>
            <a:r>
              <a:rPr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plan: 18 incremental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step ends with a </a:t>
            </a:r>
            <a:r>
              <a:rPr b="1"/>
              <a:t>verification or validation test</a:t>
            </a:r>
            <a:r>
              <a:rPr/>
              <a:t> with a pass criterion.</a:t>
            </a:r>
          </a:p>
          <a:p>
            <a:pPr lvl="0"/>
            <a:r>
              <a:rPr b="1"/>
              <a:t>Steps 1–4</a:t>
            </a:r>
            <a:r>
              <a:rPr/>
              <a:t> — Pure thermal physics (no mechanics).</a:t>
            </a:r>
          </a:p>
          <a:p>
            <a:pPr lvl="0"/>
            <a:r>
              <a:rPr b="1"/>
              <a:t>Step 4b</a:t>
            </a:r>
            <a:r>
              <a:rPr/>
              <a:t> — </a:t>
            </a:r>
            <a:r>
              <a:rPr i="1"/>
              <a:t>Validation milestone</a:t>
            </a:r>
            <a:r>
              <a:rPr/>
              <a:t> against Zhang/Oglesby MMW heating data.</a:t>
            </a:r>
          </a:p>
          <a:p>
            <a:pPr lvl="0"/>
            <a:r>
              <a:rPr b="1"/>
              <a:t>Steps 5–6d</a:t>
            </a:r>
            <a:r>
              <a:rPr/>
              <a:t> — Heterogeneous microstructure + Hu thermal validation.</a:t>
            </a:r>
          </a:p>
          <a:p>
            <a:pPr lvl="0"/>
            <a:r>
              <a:rPr b="1"/>
              <a:t>Steps 7–7d</a:t>
            </a:r>
            <a:r>
              <a:rPr/>
              <a:t> — Thermoelasticity, AMR, Hu thermoelastic validation.</a:t>
            </a:r>
          </a:p>
          <a:p>
            <a:pPr lvl="0"/>
            <a:r>
              <a:rPr b="1"/>
              <a:t>Steps 8–11b</a:t>
            </a:r>
            <a:r>
              <a:rPr/>
              <a:t> — Damage, cohesive zones, removal, Hu LRST/onset validation.</a:t>
            </a:r>
          </a:p>
          <a:p>
            <a:pPr lvl="0"/>
            <a:r>
              <a:rPr b="1"/>
              <a:t>Steps 12–18</a:t>
            </a:r>
            <a:r>
              <a:rPr/>
              <a:t> — Revised LEFM </a:t>
            </a:r>
            <a:r>
              <a:rPr b="1"/>
              <a:t>Sp + Weibull</a:t>
            </a:r>
            <a:r>
              <a:rPr/>
              <a:t> branch + Kant/Rossi data.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Validation campaigns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Four independent experimental reference datasets, each anchoring a different piece of the model: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Validates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Zhang &amp; Oglesby (granite MMW heating)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Heat + beam + losses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done (Step 4b)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 (prescribed-T flame heating, granite/sandstone)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Thermal, stress, damage chain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6d, 7b/7d, 8b, 11b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Kant 2017 (flame jet, confining pressure)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LEFM onset, pressure dep.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⏳ Step 12c, 18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Rossi 2018 (post-flame thin-section crack density)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Spall depth profile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⏳ Step 16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are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</a:t>
            </a:r>
            <a:r>
              <a:rPr b="1"/>
              <a:t>Completed (Steps 1–11b):</a:t>
            </a:r>
            <a:r>
              <a:rPr/>
              <a:t> full thermo-mechanical-damage pipeline, including Voronoi microstructure, AMR for thermal-stress, Drucker–Prager damage, cohesive zones (unit test), and a working spall + vaporisation removal loop. Three of four validation anchors satisfied.</a:t>
            </a:r>
          </a:p>
          <a:p>
            <a:pPr lvl="0" indent="0" marL="0">
              <a:buNone/>
            </a:pPr>
            <a:r>
              <a:rPr/>
              <a:t>🔜 </a:t>
            </a:r>
            <a:r>
              <a:rPr b="1"/>
              <a:t>Next (Steps 12–18):</a:t>
            </a:r>
            <a:r>
              <a:rPr/>
              <a:t> a runtime toggle adds an alternative LEFM-based spallation block based on a stress-intensity-factor </a:t>
            </a:r>
            <a:r>
              <a:rPr>
                <a:latin typeface="Courier"/>
              </a:rPr>
              <a:t>Sp = K_I/K_Ic</a:t>
            </a:r>
            <a:r>
              <a:rPr/>
              <a:t> criterion + per-face Weibull flaw statistics, then closes Kant and Rossi validations.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1–4: Thermal foundation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Skeleton integrator + build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Runs to t=1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Enthalpy form (solid/liquid/vapour)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Stefan analytic, </a:t>
                      </a:r>
                      <a:r>
                        <a:rPr b="1"/>
                        <a:t>4.23%</a:t>
                      </a:r>
                      <a:r>
                        <a:rPr/>
                        <a:t> front-position error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Gaussian + Beer–Lambert MMW source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Domain-integrated power, </a:t>
                      </a:r>
                      <a:r>
                        <a:rPr b="1"/>
                        <a:t>1.61%</a:t>
                      </a:r>
                      <a:r>
                        <a:rPr/>
                        <a:t> error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Surface radiation + convection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Equilibrium temperature, </a:t>
                      </a:r>
                      <a:r>
                        <a:rPr b="1"/>
                        <a:t>0.00%</a:t>
                      </a:r>
                      <a:r>
                        <a:rPr/>
                        <a:t> error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Forward-Euler explicit; latent heat handled by </a:t>
            </a:r>
            <a:r>
              <a:rPr b="1"/>
              <a:t>closed-form T↔H inversion</a:t>
            </a:r>
            <a:r>
              <a:rPr/>
              <a:t> (no Newton iteration). The Voller–Prakash enthalpy formulation makes phase plateaux exact.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4b: Zhang/Oglesby validation (mid-plan milestone)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Setup:</a:t>
            </a:r>
            <a:r>
              <a:rPr/>
              <a:t> 10 × 10 × 2.5 cm granite, 28 GHz beam (ω₀ = 2 cm), piecewise-constant power schedule 800 W → 3200 W over 1750 s.</a:t>
            </a:r>
          </a:p>
          <a:p>
            <a:pPr lvl="0" indent="0" marL="0">
              <a:buNone/>
            </a:pPr>
            <a:r>
              <a:rPr b="1"/>
              <a:t>Pass:</a:t>
            </a:r>
            <a:r>
              <a:rPr/>
              <a:t> ALAMO peak surface temperature </a:t>
            </a:r>
            <a:r>
              <a:rPr b="1"/>
              <a:t>2871 K</a:t>
            </a:r>
            <a:r>
              <a:rPr/>
              <a:t> vs. Zhang’s simulation </a:t>
            </a:r>
            <a:r>
              <a:rPr b="1"/>
              <a:t>2850 K</a:t>
            </a:r>
            <a:r>
              <a:rPr/>
              <a:t> at t = 1250 s — </a:t>
            </a:r>
            <a:r>
              <a:rPr b="1"/>
              <a:t>0.7%</a:t>
            </a:r>
            <a:r>
              <a:rPr/>
              <a:t> error (criterion &lt; 15%).</a:t>
            </a:r>
          </a:p>
          <a:p>
            <a:pPr lvl="0" indent="0" marL="0">
              <a:buNone/>
            </a:pPr>
            <a:r>
              <a:rPr b="1"/>
              <a:t>What this exercises end-to-end:</a:t>
            </a:r>
            <a:r>
              <a:rPr/>
              <a:t> enthalpy w/ latent heat, T-dependent material properties (ρ(T), κ(T), c_p(T) polynomial fits), Beer–Lambert absorption with reflectivity, radiation + convection losses, </a:t>
            </a:r>
            <a:r>
              <a:rPr b="1"/>
              <a:t>and</a:t>
            </a:r>
            <a:r>
              <a:rPr/>
              <a:t> the implicit backward-Euler thermal solver added during tuning.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5–6c: Heterogeneous microstructure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5</a:t>
            </a:r>
            <a:r>
              <a:rPr/>
              <a:t> — Reproducible seeded Voronoi grains; per-phase </a:t>
            </a:r>
            <a:r>
              <a:rPr>
                <a:latin typeface="Courier"/>
              </a:rPr>
              <a:t>{κ, β, E, ρ, c_p, A_D}</a:t>
            </a:r>
            <a:r>
              <a:rPr/>
              <a:t>; </a:t>
            </a:r>
            <a:r>
              <a:rPr>
                <a:latin typeface="Courier"/>
              </a:rPr>
              <a:t>is_gb</a:t>
            </a:r>
            <a:r>
              <a:rPr/>
              <a:t> flag at grain boundaries.</a:t>
            </a:r>
          </a:p>
          <a:p>
            <a:pPr lvl="0"/>
            <a:r>
              <a:rPr b="1"/>
              <a:t>Step 6</a:t>
            </a:r>
            <a:r>
              <a:rPr/>
              <a:t> — Damage-degraded conductivity </a:t>
            </a:r>
            <a:r>
              <a:rPr>
                <a:latin typeface="Courier"/>
              </a:rPr>
              <a:t>κ_eff = κ_phase · exp(−α_D D)</a:t>
            </a:r>
            <a:r>
              <a:rPr/>
              <a:t>; optional expression-mode microstructure for deterministic laminate tests.</a:t>
            </a:r>
          </a:p>
          <a:p>
            <a:pPr lvl="0"/>
            <a:r>
              <a:rPr b="1"/>
              <a:t>Step 6b</a:t>
            </a:r>
            <a:r>
              <a:rPr/>
              <a:t> — H/T consistency: every phase has its own enthalpy table; the heterogeneous path now advances conserved enthalpy, not temperature.</a:t>
            </a:r>
          </a:p>
          <a:p>
            <a:pPr lvl="0"/>
            <a:r>
              <a:rPr b="1"/>
              <a:t>Step 6c</a:t>
            </a:r>
            <a:r>
              <a:rPr/>
              <a:t> — </a:t>
            </a:r>
            <a:r>
              <a:rPr b="1"/>
              <a:t>Grain topology ≠ phase topology</a:t>
            </a:r>
            <a:r>
              <a:rPr/>
              <a:t>. Same-mineral neighbouring grains can now have grain-boundary effects (cohesive zones, elevated </a:t>
            </a:r>
            <a:r>
              <a:rPr>
                <a:latin typeface="Courier"/>
              </a:rPr>
              <a:t>A_D</a:t>
            </a:r>
            <a:r>
              <a:rPr/>
              <a:t>).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6d: Hu prescribed-T thermal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Hu reproduction: </a:t>
            </a:r>
            <a:r>
              <a:rPr b="1"/>
              <a:t>flame-jet patch BC</a:t>
            </a:r>
            <a:r>
              <a:rPr/>
              <a:t> on a granite/sandstone cube, mechanics off, heat conduction only.</a:t>
            </a:r>
          </a:p>
          <a:p>
            <a:pPr lvl="0"/>
            <a:r>
              <a:rPr/>
              <a:t>Hole-1 ΔT range: granite 0 → </a:t>
            </a:r>
            <a:r>
              <a:rPr b="1"/>
              <a:t>35.3 K</a:t>
            </a:r>
            <a:r>
              <a:rPr/>
              <a:t>, sandstone 0 → </a:t>
            </a:r>
            <a:r>
              <a:rPr b="1"/>
              <a:t>73.2 K</a:t>
            </a:r>
            <a:r>
              <a:rPr/>
              <a:t>.</a:t>
            </a:r>
          </a:p>
          <a:p>
            <a:pPr lvl="0"/>
            <a:r>
              <a:rPr/>
              <a:t>At t = 30 s, L1/L2 line-temperature ratios match Hu within ~3 percentage points (sandstone L1 +15.84% vs Hu +12.58%; L2 +17.38% vs +18.90%).</a:t>
            </a:r>
          </a:p>
          <a:p>
            <a:pPr lvl="0" indent="0" marL="0">
              <a:buNone/>
            </a:pPr>
            <a:r>
              <a:rPr/>
              <a:t>Establishes the </a:t>
            </a:r>
            <a:r>
              <a:rPr b="1"/>
              <a:t>prescribed-T patch BC</a:t>
            </a:r>
            <a:r>
              <a:rPr/>
              <a:t> that all subsequent Hu validations use, ahead of bringing mechanics online.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7–7d: Thermoelasticity + AMR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Step 7</a:t>
            </a:r>
            <a:r>
              <a:rPr/>
              <a:t> — Per-phase </a:t>
            </a:r>
            <a:r>
              <a:rPr>
                <a:latin typeface="Courier"/>
              </a:rPr>
              <a:t>(E, μ, β, T_ref)</a:t>
            </a:r>
            <a:r>
              <a:rPr/>
              <a:t> mechanical fields, nodal averaging, full microstructure stiffness rebuild every step.</a:t>
            </a:r>
          </a:p>
          <a:p>
            <a:pPr lvl="0"/>
            <a:r>
              <a:rPr b="1"/>
              <a:t>Step 7b</a:t>
            </a:r>
            <a:r>
              <a:rPr/>
              <a:t> — Hu Granite-2 / Sandstone-2 thermoelastic to 30 s, single level. Peak top von-Mises </a:t>
            </a:r>
            <a:r>
              <a:rPr b="1"/>
              <a:t>granite &gt; sandstone</a:t>
            </a:r>
            <a:r>
              <a:rPr/>
              <a:t>, as Hu reports.</a:t>
            </a:r>
          </a:p>
          <a:p>
            <a:pPr lvl="0"/>
            <a:r>
              <a:rPr b="1"/>
              <a:t>Step 7c</a:t>
            </a:r>
            <a:r>
              <a:rPr/>
              <a:t> — AMR regrid repair for discrete fields (</a:t>
            </a:r>
            <a:r>
              <a:rPr>
                <a:latin typeface="Courier"/>
              </a:rPr>
              <a:t>phase</a:t>
            </a:r>
            <a:r>
              <a:rPr/>
              <a:t>, </a:t>
            </a:r>
            <a:r>
              <a:rPr>
                <a:latin typeface="Courier"/>
              </a:rPr>
              <a:t>grain_id</a:t>
            </a:r>
            <a:r>
              <a:rPr/>
              <a:t>, boundary flags, properties). Linear interpolation of integer phase IDs would smear them; we </a:t>
            </a:r>
            <a:r>
              <a:rPr b="1"/>
              <a:t>re-evaluate from physical coordinates</a:t>
            </a:r>
            <a:r>
              <a:rPr/>
              <a:t> instead.</a:t>
            </a:r>
          </a:p>
          <a:p>
            <a:pPr lvl="0"/>
            <a:r>
              <a:rPr b="1"/>
              <a:t>Step 7d</a:t>
            </a:r>
            <a:r>
              <a:rPr/>
              <a:t> — Hu thermoelastic rerun with AMR: ~28× fewer cells than uniform refinement, agreement to 7b within tolerance.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8 + 8b: Damage and breakage indicator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8</a:t>
                </a:r>
                <a:r>
                  <a:rPr/>
                  <a:t> — Drucker–Prager yield </a:t>
                </a:r>
                <a:r>
                  <a:rPr>
                    <a:latin typeface="Courier"/>
                  </a:rPr>
                  <a:t>F_DP = √J₂ + α_DP I₁ − k_DP</a:t>
                </a:r>
                <a:r>
                  <a:rPr/>
                  <a:t>. Continuous damage evolution (RK4, irreversible):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̇"/>
                        </m:accPr>
                        <m:e>
                          <m:r>
                            <m:t>D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A</m:t>
                          </m:r>
                        </m:e>
                        <m:sub>
                          <m:r>
                            <m:t>D</m:t>
                          </m:r>
                        </m:sub>
                      </m:sSub>
                      <m:r>
                        <m:t> 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Ψ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Ψ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n</m:t>
                          </m:r>
                        </m:sup>
                      </m:sSup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D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r>
                            <m:t>m</m:t>
                          </m:r>
                        </m:sup>
                      </m:sSup>
                      <m:r>
                        <m:rPr>
                          <m:sty m:val="p"/>
                        </m:rPr>
                        <m:t>⋅</m:t>
                      </m:r>
                      <m:r>
                        <m:rPr>
                          <m:sty m:val="b"/>
                        </m:rPr>
                        <m:t>1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rPr>
                          <m:sty m:val="p"/>
                        </m:rPr>
                        <m:t>Ψ</m:t>
                      </m:r>
                      <m:r>
                        <m:rPr>
                          <m:sty m:val="p"/>
                        </m:rPr>
                        <m:t>≥</m:t>
                      </m:r>
                      <m:sSub>
                        <m:e>
                          <m:r>
                            <m:rPr>
                              <m:sty m:val="p"/>
                            </m:rPr>
                            <m:t>Ψ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]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Stiffness degradation </a:t>
                </a:r>
                <a:r>
                  <a:rPr>
                    <a:latin typeface="Courier"/>
                  </a:rPr>
                  <a:t>E(D) = E (1 − D)</a:t>
                </a:r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 b="1"/>
                  <a:t>Step 8b — Hu breakage index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f_b = σ_v / σ_s</a:t>
                </a:r>
                <a:r>
                  <a:rPr/>
                  <a:t>, </a:t>
                </a:r>
                <a:r>
                  <a:rPr i="1"/>
                  <a:t>damage evolution off</a:t>
                </a:r>
                <a:r>
                  <a:rPr/>
                  <a:t>:</a:t>
                </a:r>
              </a:p>
              <a:p>
                <a:pPr lvl="0"/>
                <a:r>
                  <a:rPr/>
                  <a:t>Granite f_b = </a:t>
                </a:r>
                <a:r>
                  <a:rPr b="1"/>
                  <a:t>0.86</a:t>
                </a:r>
                <a:r>
                  <a:rPr/>
                  <a:t> (Hu: 0.91), Sandstone </a:t>
                </a:r>
                <a:r>
                  <a:rPr b="1"/>
                  <a:t>0.84</a:t>
                </a:r>
                <a:r>
                  <a:rPr/>
                  <a:t> (Hu: 0.82).</a:t>
                </a:r>
              </a:p>
              <a:p>
                <a:pPr lvl="0"/>
                <a:r>
                  <a:rPr/>
                  <a:t>Granite/sandstone margin </a:t>
                </a:r>
                <a:r>
                  <a:rPr b="1"/>
                  <a:t>+16.8%</a:t>
                </a:r>
                <a:r>
                  <a:rPr/>
                  <a:t> vs Hu +19.7% — correct ordering.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9: Grain-boundary cohesive zones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Bilinear traction–separation law on </a:t>
            </a:r>
            <a:r>
              <a:rPr b="1"/>
              <a:t>true grain-boundary faces</a:t>
            </a:r>
            <a:r>
              <a:rPr/>
              <a:t> (not just phase boundaries):</a:t>
            </a:r>
          </a:p>
          <a:p>
            <a:pPr lvl="0"/>
            <a:r>
              <a:rPr/>
              <a:t>Linear loading to peak traction f_t at δ_c, linear softening to zero at δ_max.</a:t>
            </a:r>
          </a:p>
          <a:p>
            <a:pPr lvl="0"/>
            <a:r>
              <a:rPr/>
              <a:t>Calibrated so integrated work = input fracture energy </a:t>
            </a:r>
            <a:r>
              <a:rPr>
                <a:latin typeface="Courier"/>
              </a:rPr>
              <a:t>G_c = ½ f_t δ_max</a:t>
            </a:r>
            <a:r>
              <a:rPr/>
              <a:t>.</a:t>
            </a:r>
          </a:p>
          <a:p>
            <a:pPr lvl="0"/>
            <a:r>
              <a:rPr/>
              <a:t>GB tensile strength set to </a:t>
            </a:r>
            <a:r>
              <a:rPr b="1"/>
              <a:t>40%</a:t>
            </a:r>
            <a:r>
              <a:rPr/>
              <a:t> of intra-grain strength.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unit-test verified (traction–separation curve overlays analytic bilinear law to plotting precision). </a:t>
            </a:r>
            <a:r>
              <a:rPr b="1"/>
              <a:t>Traction feedback into the elastic operator deferred</a:t>
            </a:r>
            <a:r>
              <a:rPr/>
              <a:t> — currently a passive diagnostic.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10–11: Material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10 — Spall detachment.</a:t>
            </a:r>
            <a:r>
              <a:rPr/>
              <a:t> Level-set field </a:t>
            </a:r>
            <a:r>
              <a:rPr>
                <a:latin typeface="Courier"/>
              </a:rPr>
              <a:t>φ</a:t>
            </a:r>
            <a:r>
              <a:rPr/>
              <a:t> tracks the surface; columns where </a:t>
            </a:r>
            <a:r>
              <a:rPr>
                <a:latin typeface="Courier"/>
              </a:rPr>
              <a:t>D ≥ threshold</a:t>
            </a:r>
            <a:r>
              <a:rPr/>
              <a:t> </a:t>
            </a:r>
            <a:r>
              <a:rPr i="1"/>
              <a:t>and</a:t>
            </a:r>
            <a:r>
              <a:rPr/>
              <a:t> </a:t>
            </a:r>
            <a:r>
              <a:rPr>
                <a:latin typeface="Courier"/>
              </a:rPr>
              <a:t>σ₁/σ₃ ≥ ξ_s ≈ 8</a:t>
            </a:r>
            <a:r>
              <a:rPr/>
              <a:t> (Hoek–Brown) detach with thickness </a:t>
            </a:r>
            <a:r>
              <a:rPr>
                <a:latin typeface="Courier"/>
              </a:rPr>
              <a:t>h_spall = C_h √(α t_spall)</a:t>
            </a:r>
            <a:r>
              <a:rPr/>
              <a:t>. Detached cells reset to ambient.</a:t>
            </a:r>
          </a:p>
          <a:p>
            <a:pPr lvl="0" indent="0" marL="0">
              <a:buNone/>
            </a:pPr>
            <a:r>
              <a:rPr b="1"/>
              <a:t>Step 11 — Vaporisation.</a:t>
            </a:r>
            <a:r>
              <a:rPr/>
              <a:t> Once </a:t>
            </a:r>
            <a:r>
              <a:rPr>
                <a:latin typeface="Courier"/>
              </a:rPr>
              <a:t>H ≥ H_vap</a:t>
            </a:r>
            <a:r>
              <a:rPr/>
              <a:t> at a surface cell, advance with </a:t>
            </a:r>
            <a:r>
              <a:rPr>
                <a:latin typeface="Courier"/>
              </a:rPr>
              <a:t>RoP_vap = (1−R) P₀ / (ρ L_tot A_beam)</a:t>
            </a:r>
            <a:r>
              <a:rPr/>
              <a:t>. Global mode chosen by </a:t>
            </a:r>
            <a:r>
              <a:rPr>
                <a:latin typeface="Courier"/>
              </a:rPr>
              <a:t>max(RoP_spall, RoP_vap)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Both modes share fields; per-column decisions use </a:t>
            </a:r>
            <a:r>
              <a:rPr b="1"/>
              <a:t>MPI reductions</a:t>
            </a:r>
            <a:r>
              <a:rPr/>
              <a:t> so z-decomposed columns stay coherent across ranks.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11b: Hu LRST + onset validation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validation that exercises the </a:t>
            </a:r>
            <a:r>
              <a:rPr b="1"/>
              <a:t>full damage pipeline</a:t>
            </a:r>
            <a:r>
              <a:rPr/>
              <a:t>.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Granite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Sandstone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ALAMO onset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37.0 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87.0 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 target onset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31.5 s (±20%)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76.7 s (±20%)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ALAMO LRST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776.6 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898.7 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Hu target LRST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791 K (±10%)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842 K (±10%)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All four metrics pass. </a:t>
            </a:r>
            <a:r>
              <a:rPr b="1"/>
              <a:t>Granite spalls before sandstone</a:t>
            </a:r>
            <a:r>
              <a:rPr/>
              <a:t>, as observed.</a:t>
            </a:r>
          </a:p>
          <a:p>
            <a:pPr lvl="0" indent="0" marL="0">
              <a:buNone/>
            </a:pPr>
            <a:r>
              <a:rPr b="1"/>
              <a:t>Caveat:</a:t>
            </a:r>
            <a:r>
              <a:rPr/>
              <a:t> sandstone damage zone is deeper than Hu reports (warning-only in v1) and per-rock </a:t>
            </a:r>
            <a:r>
              <a:rPr>
                <a:latin typeface="Courier"/>
              </a:rPr>
              <a:t>A_D</a:t>
            </a:r>
            <a:r>
              <a:rPr/>
              <a:t> values are explicit calibration knobs.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12: The branching point — spallation-model toggle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spallation.model = damage_law   (default — Steps 8–11b preserved)
spallation.model = sp_weibull   (revised LEFM approach — Steps 12–18)</a:t>
            </a:r>
          </a:p>
          <a:p>
            <a:pPr lvl="0" indent="0" marL="0">
              <a:buNone/>
            </a:pPr>
            <a:r>
              <a:rPr/>
              <a:t>Toggle is a </a:t>
            </a:r>
            <a:r>
              <a:rPr b="1"/>
              <a:t>full block swap</a:t>
            </a:r>
            <a:r>
              <a:rPr/>
              <a:t>, not per-component: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damage_law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sp_weibull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Onset criterion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Drucker–Prager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Sp = K_I / K_Ic(T)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Damage evolution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eq.27 RK4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none (Weibull statistics)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Spall thickness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C_h √(α t_spall)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Sp-vs-depth zero crossing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GB statistics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CZM (Step 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Per-face Weibull flaws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Removal granularity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per-column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per-cell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EOS work (Mie–Grüneisen, linear E(P)) dropped 2026-05-13.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revised approach?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</a:t>
            </a:r>
            <a:r>
              <a:rPr>
                <a:latin typeface="Courier"/>
              </a:rPr>
              <a:t>damage_law</a:t>
            </a:r>
            <a:r>
              <a:rPr/>
              <a:t> branch works but has </a:t>
            </a:r>
            <a:r>
              <a:rPr b="1"/>
              <a:t>two per-rock free parameters</a:t>
            </a:r>
            <a:r>
              <a:rPr/>
              <a:t> (</a:t>
            </a:r>
            <a:r>
              <a:rPr>
                <a:latin typeface="Courier"/>
              </a:rPr>
              <a:t>A_D</a:t>
            </a:r>
            <a:r>
              <a:rPr/>
              <a:t>, </a:t>
            </a:r>
            <a:r>
              <a:rPr>
                <a:latin typeface="Courier"/>
              </a:rPr>
              <a:t>Ψ₀</a:t>
            </a:r>
            <a:r>
              <a:rPr/>
              <a:t>) tuned to fit Hu. The revised approach replaces both with quantities that can be </a:t>
            </a:r>
            <a:r>
              <a:rPr b="1"/>
              <a:t>read from independent literature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K_Ic(T)</a:t>
            </a:r>
            <a:r>
              <a:rPr/>
              <a:t> from Nasseri 2007 piecewise-linear table (5 measured points).</a:t>
            </a:r>
          </a:p>
          <a:p>
            <a:pPr lvl="0"/>
            <a:r>
              <a:rPr/>
              <a:t>Weibull </a:t>
            </a:r>
            <a:r>
              <a:rPr>
                <a:latin typeface="Courier"/>
              </a:rPr>
              <a:t>(a₀, m)</a:t>
            </a:r>
            <a:r>
              <a:rPr/>
              <a:t> from Westerly granite microcrack statistics.</a:t>
            </a:r>
          </a:p>
          <a:p>
            <a:pPr lvl="0" indent="0" marL="0">
              <a:buNone/>
            </a:pPr>
            <a:r>
              <a:rPr/>
              <a:t>The goal is </a:t>
            </a:r>
            <a:r>
              <a:rPr b="1"/>
              <a:t>predictive, not fitted</a:t>
            </a:r>
            <a:r>
              <a:rPr/>
              <a:t>: same parameters work across Hu, Kant, and Rossi without per-test recalibration.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12–13: Sp criterion + AMR refinement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Step 12 — Sp onset.</a:t>
                </a:r>
                <a:r>
                  <a:rPr/>
                  <a:t> Tada weight function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K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;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2</m:t>
                      </m:r>
                      <m:rad>
                        <m:radPr>
                          <m:degHide m:val="on"/>
                        </m:radPr>
                        <m:deg/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π</m:t>
                          </m:r>
                        </m:e>
                      </m:rad>
                      <m:nary>
                        <m:naryPr>
                          <m:chr m:val="∫"/>
                          <m:limLoc m:val="subSup"/>
                          <m:subHide m:val="off"/>
                          <m:supHide m:val="off"/>
                        </m:naryPr>
                        <m:sub>
                          <m:r>
                            <m:t>0</m:t>
                          </m:r>
                        </m:sub>
                        <m:sup>
                          <m:r>
                            <m:t>1</m:t>
                          </m:r>
                        </m:sup>
                        <m:e>
                          <m:sSub>
                            <m:e>
                              <m:r>
                                <m:t>σ</m:t>
                              </m:r>
                            </m:e>
                            <m:sub>
                              <m:r>
                                <m:t>x</m:t>
                              </m:r>
                              <m:r>
                                <m:t>x</m:t>
                              </m:r>
                            </m:sub>
                          </m:sSub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ξ</m:t>
                      </m:r>
                      <m:r>
                        <m:t>a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sSub>
                        <m:e>
                          <m:r>
                            <m:t>f</m:t>
                          </m:r>
                        </m:e>
                        <m:sub>
                          <m: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t>ξ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t> </m:t>
                      </m:r>
                      <m:r>
                        <m:t>d</m:t>
                      </m:r>
                      <m:r>
                        <m:t>ξ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with </a:t>
                </a:r>
                <a:r>
                  <a:rPr>
                    <a:latin typeface="Courier"/>
                  </a:rPr>
                  <a:t>f_K(ξ) = (1.3 − 0.3 ξ^{5/4})/√(1−ξ²)</a:t>
                </a:r>
                <a:r>
                  <a:rPr/>
                  <a:t> and Simpson quadrature with logarithmic refinement near the crack tip.</a:t>
                </a:r>
              </a:p>
              <a:p>
                <a:pPr lvl="0" indent="0" marL="0">
                  <a:buNone/>
                </a:pPr>
                <a:r>
                  <a:rPr b="1"/>
                  <a:t>Verification:</a:t>
                </a:r>
                <a:r>
                  <a:rPr/>
                  <a:t> Kant 2017 closed-form Bi &lt; 0.5 regime, ALAMO </a:t>
                </a:r>
                <a:r>
                  <a:rPr>
                    <a:latin typeface="Courier"/>
                  </a:rPr>
                  <a:t>Sp(t)</a:t>
                </a:r>
                <a:r>
                  <a:rPr/>
                  <a:t> matches analytic </a:t>
                </a:r>
                <a:r>
                  <a:rPr>
                    <a:latin typeface="Courier"/>
                  </a:rPr>
                  <a:t>Sp_red</a:t>
                </a:r>
                <a:r>
                  <a:rPr/>
                  <a:t> within </a:t>
                </a:r>
                <a:r>
                  <a:rPr b="1"/>
                  <a:t>5%</a:t>
                </a:r>
                <a:r>
                  <a:rPr/>
                  <a:t> over the first 10 s.</a:t>
                </a:r>
              </a:p>
              <a:p>
                <a:pPr lvl="0" indent="0" marL="0">
                  <a:buNone/>
                </a:pPr>
                <a:r>
                  <a:rPr b="1"/>
                  <a:t>Step 13</a:t>
                </a:r>
                <a:r>
                  <a:rPr/>
                  <a:t> — Production AMR refinement criteria (</a:t>
                </a:r>
                <a:r>
                  <a:rPr>
                    <a:latin typeface="Courier"/>
                  </a:rPr>
                  <a:t>|∇H|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|∇D|</a:t>
                </a:r>
                <a:r>
                  <a:rPr/>
                  <a:t> or </a:t>
                </a:r>
                <a:r>
                  <a:rPr>
                    <a:latin typeface="Courier"/>
                  </a:rPr>
                  <a:t>|∇Sp|</a:t>
                </a:r>
                <a:r>
                  <a:rPr/>
                  <a:t>, beam footprint) + adaptive Δt per CFL bound.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Steps 15–17: Weibull, depth, per-cell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Step 15</a:t>
            </a:r>
            <a:r>
              <a:rPr/>
              <a:t> — Per-face flaw lengths sampled at init: GB faces </a:t>
            </a:r>
            <a:r>
              <a:rPr>
                <a:latin typeface="Courier"/>
              </a:rPr>
              <a:t>a_f ~ Weibull(a₀_gb, m)</a:t>
            </a:r>
            <a:r>
              <a:rPr/>
              <a:t>, intragranular </a:t>
            </a:r>
            <a:r>
              <a:rPr>
                <a:latin typeface="Courier"/>
              </a:rPr>
              <a:t>a_f ~ Weibull(a₀_ig, m)</a:t>
            </a:r>
            <a:r>
              <a:rPr/>
              <a:t> with </a:t>
            </a:r>
            <a:r>
              <a:rPr>
                <a:latin typeface="Courier"/>
              </a:rPr>
              <a:t>a₀_ig ≈ a₀_gb / 5</a:t>
            </a:r>
            <a:r>
              <a:rPr/>
              <a:t> (Rossi 2018). Re-runs Hu LRST/onset without per-rock fitting.</a:t>
            </a:r>
          </a:p>
          <a:p>
            <a:pPr lvl="0" indent="0" marL="0">
              <a:buNone/>
            </a:pPr>
            <a:r>
              <a:rPr b="1"/>
              <a:t>Step 16</a:t>
            </a:r>
            <a:r>
              <a:rPr/>
              <a:t> — </a:t>
            </a:r>
            <a:r>
              <a:rPr>
                <a:latin typeface="Courier"/>
              </a:rPr>
              <a:t>h_spall(x,y) = max{ z : K_I(x,y,z;a) ≥ K_Ic(T(x,y,z)) }</a:t>
            </a:r>
            <a:r>
              <a:rPr/>
              <a:t> evaluated by re-running the Tada integral down a column. Validated against Rossi 2018 crack density vs depth (peak at 100–200 µm).</a:t>
            </a:r>
          </a:p>
          <a:p>
            <a:pPr lvl="0" indent="0" marL="0">
              <a:buNone/>
            </a:pPr>
            <a:r>
              <a:rPr b="1"/>
              <a:t>Step 17</a:t>
            </a:r>
            <a:r>
              <a:rPr/>
              <a:t> — Per-cell normal velocity </a:t>
            </a:r>
            <a:r>
              <a:rPr>
                <a:latin typeface="Courier"/>
              </a:rPr>
              <a:t>v_n(x,y,t)</a:t>
            </a:r>
            <a:r>
              <a:rPr/>
              <a:t>: spall and vaporisation can fire </a:t>
            </a:r>
            <a:r>
              <a:rPr b="1"/>
              <a:t>at different (x,y) within the same beam footprint in the same step</a:t>
            </a:r>
            <a:r>
              <a:rPr/>
              <a:t>. Re-runs Zhang/Oglesby.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18: Confining-pressure validation (Kant 2017)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Lithostatic pressure applied as a </a:t>
            </a:r>
            <a:r>
              <a:rPr b="1"/>
              <a:t>stress-field BC</a:t>
            </a:r>
            <a:r>
              <a:rPr/>
              <a:t> on side faces — not through a </a:t>
            </a:r>
            <a:r>
              <a:rPr>
                <a:latin typeface="Courier"/>
              </a:rPr>
              <a:t>Ψ₀(P_c)</a:t>
            </a:r>
            <a:r>
              <a:rPr/>
              <a:t> empirical correction. Pressure enters the LEFM criterion implicitly through </a:t>
            </a:r>
            <a:r>
              <a:rPr>
                <a:latin typeface="Courier"/>
              </a:rPr>
              <a:t>σ_xx</a:t>
            </a:r>
            <a:r>
              <a:rPr/>
              <a:t>.</a:t>
            </a:r>
          </a:p>
          <a:p>
            <a:pPr lvl="0" indent="0" marL="0">
              <a:buNone/>
            </a:pPr>
            <a:r>
              <a:rPr b="1"/>
              <a:t>Pass criteria:</a:t>
            </a:r>
            <a:r>
              <a:rPr/>
              <a:t> - Onset ΔT at p = 0 inside Kant’s measured 553–694 °C bracket. - Monotone-decreasing onset ΔT across p ∈ {0, 27, 48} MPa. - Slope vs pressure within ±30% of Kant’s measured trend.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Step 14: End-to-end Hu reproduction (both branches)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Runs </a:t>
            </a:r>
            <a:r>
              <a:rPr b="1"/>
              <a:t>twice</a:t>
            </a:r>
            <a:r>
              <a:rPr/>
              <a:t>, once per branch, on the same Hu setup:</a:t>
            </a:r>
          </a:p>
          <a:p>
            <a:pPr lvl="0"/>
            <a:r>
              <a:rPr/>
              <a:t>Under </a:t>
            </a:r>
            <a:r>
              <a:rPr>
                <a:latin typeface="Courier"/>
              </a:rPr>
              <a:t>damage_law</a:t>
            </a:r>
            <a:r>
              <a:rPr/>
              <a:t>: consolidates 6d → 7b/7d → 8b → 11b.</a:t>
            </a:r>
          </a:p>
          <a:p>
            <a:pPr lvl="0"/>
            <a:r>
              <a:rPr/>
              <a:t>Under </a:t>
            </a:r>
            <a:r>
              <a:rPr>
                <a:latin typeface="Courier"/>
              </a:rPr>
              <a:t>sp_weibull</a:t>
            </a:r>
            <a:r>
              <a:rPr/>
              <a:t>: consolidates 6d → 7b/7d → 12c → 15a — must reproduce Hu LRST/onset </a:t>
            </a:r>
            <a:r>
              <a:rPr b="1"/>
              <a:t>without</a:t>
            </a:r>
            <a:r>
              <a:rPr/>
              <a:t> the per-rock fitting that 11b relies on.</a:t>
            </a:r>
          </a:p>
          <a:p>
            <a:pPr lvl="0" indent="0" marL="0">
              <a:buNone/>
            </a:pPr>
            <a:r>
              <a:rPr/>
              <a:t>This is the final non-MMW spallation validation. Two passing branches give us an apples-to-apples comparison of the empirical and LEFM approaches on the same data.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Open caveats and deferred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Cohesive-zone traction feedback</a:t>
            </a:r>
            <a:r>
              <a:rPr/>
              <a:t> into the elastic operator (Step 9).</a:t>
            </a:r>
          </a:p>
          <a:p>
            <a:pPr lvl="0"/>
            <a:r>
              <a:rPr b="1"/>
              <a:t>AMR moving-surface validation</a:t>
            </a:r>
            <a:r>
              <a:rPr/>
              <a:t> with spall/vap removal (Steps 10–11).</a:t>
            </a:r>
          </a:p>
          <a:p>
            <a:pPr lvl="0"/>
            <a:r>
              <a:rPr b="1"/>
              <a:t>Sandstone damage depth</a:t>
            </a:r>
            <a:r>
              <a:rPr/>
              <a:t> in Step 11b is larger than Hu — warning only.</a:t>
            </a:r>
          </a:p>
          <a:p>
            <a:pPr lvl="0"/>
            <a:r>
              <a:rPr b="1"/>
              <a:t>Implicit thermal solver</a:t>
            </a:r>
            <a:r>
              <a:rPr/>
              <a:t> is single-level + Neumann BCs; not yet compatible with fracture mechanics.</a:t>
            </a:r>
          </a:p>
          <a:p>
            <a:pPr lvl="0"/>
            <a:r>
              <a:rPr b="1"/>
              <a:t>Mie–Grüneisen / linear E(P)</a:t>
            </a:r>
            <a:r>
              <a:rPr/>
              <a:t> dropped 2026-05-13 — no pressure-dependent stiffness in either branch.</a:t>
            </a:r>
          </a:p>
          <a:p>
            <a:pPr lvl="0"/>
            <a:r>
              <a:rPr/>
              <a:t>Step 11b damage parameters (</a:t>
            </a:r>
            <a:r>
              <a:rPr>
                <a:latin typeface="Courier"/>
              </a:rPr>
              <a:t>A_D</a:t>
            </a:r>
            <a:r>
              <a:rPr/>
              <a:t>) are </a:t>
            </a:r>
            <a:r>
              <a:rPr b="1"/>
              <a:t>fitted</a:t>
            </a:r>
            <a:r>
              <a:rPr/>
              <a:t>, not predictive — Step 15 is the answer.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11 of 18 steps complete</a:t>
            </a:r>
            <a:r>
              <a:rPr/>
              <a:t>, including three of four validation anchors (Zhang/Oglesby, Hu thermal/thermoelastic, Hu LRST/onset).</a:t>
            </a:r>
          </a:p>
          <a:p>
            <a:pPr lvl="0"/>
            <a:r>
              <a:rPr/>
              <a:t>The model is a faithful re-implementation of the unified MMW drilling theory from main.tex, on top of ALAMO’s AMR multi-physics infrastructure.</a:t>
            </a:r>
          </a:p>
          <a:p>
            <a:pPr lvl="0"/>
            <a:r>
              <a:rPr/>
              <a:t>The remaining </a:t>
            </a:r>
            <a:r>
              <a:rPr b="1"/>
              <a:t>Sp + Weibull branch (Steps 12–18)</a:t>
            </a:r>
            <a:r>
              <a:rPr/>
              <a:t> replaces fitted damage parameters with literature-anchored LEFM + flaw statistics, validated against Kant 2017 and Rossi 2018 alongside the existing Hu data.</a:t>
            </a:r>
          </a:p>
          <a:p>
            <a:pPr lvl="0"/>
            <a:r>
              <a:rPr/>
              <a:t>The </a:t>
            </a:r>
            <a:r>
              <a:rPr b="1"/>
              <a:t>two-branch toggle</a:t>
            </a:r>
            <a:r>
              <a:rPr/>
              <a:t> lets us compare the empirical and LEFM formulations head-to-head on identical setups.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2026-05-13T14:46:35Z</dcterms:created>
  <dcterms:modified xsi:type="dcterms:W3CDTF">2026-05-13T14:46:35Z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